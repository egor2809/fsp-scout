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2.xml" ContentType="application/vnd.openxmlformats-officedocument.drawingml.chart+xml"/>
  <Override PartName="/ppt/charts/colors2.xml" ContentType="application/vnd.ms-office.chartcolor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0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7" r:id="rId26"/>
    <p:sldId id="270" r:id="rId28"/>
    <p:sldId id="371" r:id="rId17"/>
    <p:sldId id="262" r:id="rId21"/>
    <p:sldId id="374" r:id="rId18"/>
    <p:sldId id="266" r:id="rId23"/>
    <p:sldId id="271" r:id="rId29"/>
    <p:sldId id="268" r:id="rId25"/>
    <p:sldId id="370" r:id="rId16"/>
    <p:sldId id="373" r:id="rId15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63" autoAdjust="0"/>
    <p:restoredTop sz="95857"/>
  </p:normalViewPr>
  <p:slideViewPr>
    <p:cSldViewPr snapToGrid="0" showGuides="1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1" Type="http://schemas.openxmlformats.org/officeDocument/2006/relationships/slide" Target="slides/slide20.xml"/><Relationship Id="rId23" Type="http://schemas.openxmlformats.org/officeDocument/2006/relationships/slide" Target="slides/slide22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261129492993"/>
          <c:y val="0.12693525390367644"/>
          <c:w val="0.86424170750053264"/>
          <c:h val="0.66747142271661164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2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5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C1D22"/>
                        </a:solidFill>
                      </a:rPr>
                      <a:t>0,309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C1D22"/>
                        </a:solidFill>
                      </a:rPr>
                      <a:t>0,417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C1D22"/>
                        </a:solidFill>
                      </a:rPr>
                      <a:t>0,438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C1D22"/>
                        </a:solidFill>
                      </a:rPr>
                      <a:t>0,579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BM25 по резюме</c:v>
                </c:pt>
                <c:pt idx="1">
                  <c:v>BM25 + фильтры</c:v>
                </c:pt>
                <c:pt idx="2">
                  <c:v>Скаут без теста</c:v>
                </c:pt>
                <c:pt idx="3">
                  <c:v>Скаут</c:v>
                </c:pt>
              </c:strCache>
            </c:strRef>
          </c:cat>
          <c:val>
            <c:numRef>
              <c:f>Sheet1!$B$2:$B$5</c:f>
              <c:numCache>
                <c:formatCode>0.000</c:formatCode>
                <c:ptCount val="4"/>
                <c:pt idx="0">
                  <c:v>0.3093</c:v>
                </c:pt>
                <c:pt idx="1">
                  <c:v>0.4175</c:v>
                </c:pt>
                <c:pt idx="2">
                  <c:v>0.438</c:v>
                </c:pt>
                <c:pt idx="3">
                  <c:v>0.5792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0.7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0.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4792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02.10.2026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02.10.2026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02.10.2026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02.10.2026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80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81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image" Target="../media/image809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0.png"/><Relationship Id="rId3" Type="http://schemas.openxmlformats.org/officeDocument/2006/relationships/chart" Target="../charts/char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807.jpg"/><Relationship Id="rId4" Type="http://schemas.openxmlformats.org/officeDocument/2006/relationships/image" Target="../media/image808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810.jp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t>СКАУТ: найм по подтверждённым навыкам</a:t>
            </a:r>
            <a:endParaRPr lang="ru-RU" sz="48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/>
            <a:br>
              <a:rPr lang="ru-RU" dirty="0"/>
            </a:br>
            <a:br>
              <a:rPr lang="ru-RU" dirty="0"/>
            </a:br>
            <a:r>
              <a:rPr lang="ru-RU" dirty="0"/>
              <a:t>Цифровая платформа-агрегатор ИТ-вакансий с верифицированным профилем достижений участника ФСП · команда [Название команды]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0FC7892-251B-3371-00B1-416B799F0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075" y="631174"/>
            <a:ext cx="4905194" cy="620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pic>
        <p:nvPicPr>
          <p:cNvPr id="2" name="Рисунок 1" descr="result-scoreboard-crop.jpg"/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507" b="507"/>
          <a:stretch>
            <a:fillRect/>
          </a:stretch>
        </p:blipFill>
        <p:spPr>
          <a:xfrm>
            <a:off x="0" y="335267"/>
            <a:ext cx="6456363" cy="2971784"/>
          </a:xfrm>
        </p:spPr>
      </p:pic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Грейд ставит только тест, а не резюме. Задания генерируются из параметрических семейств: слитые ответы почти не помогают.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ФИО, специальность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__ человек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как образовалась команда?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место работы/учебы участников?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t>Скаут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Кандидат подтверждает навыки адаптивным тестом и получает категорию «специализация · грейд». Работодатель ищет по подтверждённым категориям и сам приглашает с вилкой.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65" name="Скругленный прямоугольник 64">
            <a:extLst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/>
          <p:nvPr/>
        </p:nvSpPr>
        <p:spPr>
          <a:xfrm>
            <a:off x="956734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 txBox="1">
            <a:spLocks/>
          </p:cNvSpPr>
          <p:nvPr/>
        </p:nvSpPr>
        <p:spPr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7" name="Текст 8">
            <a:extLst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 txBox="1">
            <a:spLocks/>
          </p:cNvSpPr>
          <p:nvPr/>
        </p:nvSpPr>
        <p:spPr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9802422" y="1809238"/>
            <a:ext cx="1722566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Команда</a:t>
            </a:r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Роль в команде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Ник в мессенджере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Номер телефона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Место работы/учебы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О команде и решении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Расскажите, как вы собрались, участвовали ли вместе в прошлых хакатонах или проектах, интересные факты о команде.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Устойчивый банк при потолке экспозиции: решили параметрическими семействами. Валидация нашла обрыв 48% сессий на редких компетенциях: исправили. Задания с выбором угадывались по дампу банка: добавили пулы формулировок с разными ответами и учёт угадывания (3PL).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Что вас вдохновило или заинтересовало в этой проблеме?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Адаптивный тест на IRT 3PL: грейд ставит тест, а не резюме</a:t>
            </a:r>
          </a:p>
          <a:p>
            <a:r>
              <a:rPr lang="ru-RU" sz="1400" dirty="0">
                <a:solidFill>
                  <a:schemeClr val="tx1"/>
                </a:solidFill>
              </a:rPr>
              <a:t>244 параметрических семейства: у каждого кандидата свой экземпляр задания</a:t>
            </a:r>
          </a:p>
          <a:p>
            <a:r>
              <a:rPr lang="ru-RU" sz="1400" dirty="0">
                <a:solidFill>
                  <a:schemeClr val="tx1"/>
                </a:solidFill>
              </a:rPr>
              <a:t>Практика с кодом в песочнице Piston</a:t>
            </a:r>
          </a:p>
          <a:p>
            <a:r>
              <a:rPr lang="ru-RU" sz="1400" dirty="0">
                <a:solidFill>
                  <a:schemeClr val="tx1"/>
                </a:solidFill>
              </a:rPr>
              <a:t>Подбор по подтверждённым категориям с разложением балла на факторы</a:t>
            </a:r>
          </a:p>
          <a:p>
            <a:r>
              <a:rPr lang="ru-RU" sz="1400" dirty="0">
                <a:solidFill>
                  <a:schemeClr val="tx1"/>
                </a:solidFill>
              </a:rPr>
              <a:t>Вход через ФСП ID (Keycloak), достижения поднимают внутри категории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br>
              <a:rPr lang="ru-RU" sz="1400" dirty="0">
                <a:solidFill>
                  <a:schemeClr val="tx1"/>
                </a:solidFill>
              </a:rPr>
            </a:br>
            <a:r>
              <a:rPr lang="ru-RU" sz="1400" dirty="0">
                <a:solidFill>
                  <a:schemeClr val="tx1"/>
                </a:solidFill>
              </a:rPr>
              <a:t>Работодатель сравнивает кандидатов по одной шкале, а не по самоописанию</a:t>
            </a:r>
          </a:p>
          <a:p>
            <a:r>
              <a:rPr lang="ru-RU" sz="1400" dirty="0">
                <a:solidFill>
                  <a:schemeClr val="tx1"/>
                </a:solidFill>
              </a:rPr>
              <a:t>Кандидат один раз подтверждает навыки и получает приглашения с вилкой</a:t>
            </a:r>
          </a:p>
          <a:p>
            <a:r>
              <a:rPr lang="ru-RU" sz="1400" dirty="0">
                <a:solidFill>
                  <a:schemeClr val="tx1"/>
                </a:solidFill>
              </a:rPr>
              <a:t>Контакты открываются только после согласия кандидата</a:t>
            </a:r>
          </a:p>
          <a:p>
            <a:r>
              <a:rPr lang="ru-RU" sz="1400" dirty="0">
                <a:solidFill>
                  <a:schemeClr val="tx1"/>
                </a:solidFill>
              </a:rPr>
              <a:t>Участники ФСП получают канал трудоустройства, где видны их достижения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Ценность для ФСП и работодателей</a:t>
            </a: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/>
          <p:nvPr/>
        </p:nvSpPr>
        <p:spPr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14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040" y="496888"/>
            <a:ext cx="4781233" cy="415925"/>
          </a:xfrm>
        </p:spPr>
        <p:txBody>
          <a:bodyPr/>
          <a:lstStyle/>
          <a:p>
            <a:r>
              <a:rPr>
                <a:solidFill>
                  <a:srgbClr val="520977"/>
                </a:solidFill>
              </a:rPr>
              <a:t>Демонстрация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5433" y="1143695"/>
            <a:ext cx="4807840" cy="4717356"/>
          </a:xfrm>
        </p:spPr>
        <p:txBody>
          <a:bodyPr/>
          <a:lstStyle/>
          <a:p>
            <a:r>
              <a:rPr b="1">
                <a:solidFill>
                  <a:srgbClr val="520977"/>
                </a:solidFill>
              </a:rPr>
              <a:t>Репозиторий</a:t>
            </a:r>
            <a:endParaRPr lang="ru-RU" dirty="0">
              <a:solidFill>
                <a:schemeClr val="tx1"/>
              </a:solidFill>
            </a:endParaRPr>
          </a:p>
          <a:p>
            <a:r>
              <a:rPr b="0">
                <a:solidFill>
                  <a:srgbClr val="1C1D22"/>
                </a:solidFill>
              </a:rPr>
              <a:t>github.com/Egor2809/fsp-scout</a:t>
            </a:r>
          </a:p>
          <a:p>
            <a:r>
              <a:rPr b="1">
                <a:solidFill>
                  <a:srgbClr val="520977"/>
                </a:solidFill>
              </a:rPr>
              <a:t>Стенд и видео</a:t>
            </a:r>
          </a:p>
          <a:p>
            <a:r>
              <a:rPr b="0">
                <a:solidFill>
                  <a:srgbClr val="1C1D22"/>
                </a:solidFill>
              </a:rPr>
              <a:t>[ссылка на стенд] · [ссылка на видео]</a:t>
            </a:r>
          </a:p>
          <a:p>
            <a:r>
              <a:rPr b="1">
                <a:solidFill>
                  <a:srgbClr val="520977"/>
                </a:solidFill>
              </a:rPr>
              <a:t>Экспресс-тест</a:t>
            </a:r>
          </a:p>
          <a:p>
            <a:r>
              <a:rPr b="0">
                <a:solidFill>
                  <a:srgbClr val="1C1D22"/>
                </a:solidFill>
              </a:rPr>
              <a:t>Кнопка при старте теста: 6 заданий за 3–5 минут</a:t>
            </a:r>
          </a:p>
          <a:p>
            <a:r>
              <a:rPr b="1">
                <a:solidFill>
                  <a:srgbClr val="520977"/>
                </a:solidFill>
              </a:rPr>
              <a:t>Учётки жюри</a:t>
            </a:r>
          </a:p>
          <a:p>
            <a:r>
              <a:rPr b="0">
                <a:solidFill>
                  <a:srgbClr val="1C1D22"/>
                </a:solidFill>
              </a:rPr>
              <a:t>jury1…5-candidate@demo.ru и jury1…5-employer@demo.ru, пароль demo12345</a:t>
            </a:r>
          </a:p>
        </p:txBody>
      </p:sp>
      <p:pic>
        <p:nvPicPr>
          <p:cNvPr id="10" name="Picture 9" descr="mobile-candidate-car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1586" y="1188720"/>
            <a:ext cx="2364827" cy="512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7167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>
                <a:solidFill>
                  <a:srgbClr val="520977"/>
                </a:solidFill>
              </a:rPr>
              <a:t>Развитие продукта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155680" cy="712587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Пилот на реальных кандидатах и калибровка параметров заданий по их ответам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155680" cy="712587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GigaChat-2-Max уже пишет черновики заданий с проверкой эталона кодом; дальше экспертная вычитка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155680" cy="712587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Боевой реестр ФСП и ФСП ID вместо эмулятора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155680" cy="712587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Новые специализации и практические кейсы в банке заданий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155680" cy="712587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Выгрузка приглашённых кандидатов в ATS работодателя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Модель IRT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Следующее задание выбирается по текущей оценке умения, с учётом угадывания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Семейства заданий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160 числовых, 70 с выбором ответа, 14 канареек. Ключи только на сервере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Потолок экспозиции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Семейство попадает не больше чем в 40% сессий, покрытие компетенций обязательно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Практика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Решение проверяется тестами в песочнице Piston. Провал практики не перекрыть баллом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Адаптивный тест</a:t>
            </a:r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2194560" cy="423628"/>
          </a:xfrm>
        </p:spPr>
        <p:txBody>
          <a:bodyPr/>
          <a:lstStyle/>
          <a:p>
            <a:pPr marL="0" indent="0">
              <a:buNone/>
            </a:pPr>
            <a:r>
              <a:rPr sz="2400" b="1">
                <a:solidFill>
                  <a:srgbClr val="FF0053"/>
                </a:solidFill>
              </a:rPr>
              <a:t>3PL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2194560" cy="403756"/>
          </a:xfrm>
        </p:spPr>
        <p:txBody>
          <a:bodyPr/>
          <a:lstStyle/>
          <a:p>
            <a:pPr marL="0" indent="0">
              <a:buNone/>
            </a:pPr>
            <a:r>
              <a:rPr sz="2400" b="1">
                <a:solidFill>
                  <a:srgbClr val="FF0053"/>
                </a:solidFill>
              </a:rPr>
              <a:t>244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2194560" cy="403913"/>
          </a:xfrm>
        </p:spPr>
        <p:txBody>
          <a:bodyPr/>
          <a:lstStyle/>
          <a:p>
            <a:pPr marL="0" indent="0">
              <a:buNone/>
            </a:pPr>
            <a:r>
              <a:rPr sz="2400" b="1">
                <a:solidFill>
                  <a:srgbClr val="FF0053"/>
                </a:solidFill>
              </a:rPr>
              <a:t>0,4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2194560" cy="423628"/>
          </a:xfrm>
        </p:spPr>
        <p:txBody>
          <a:bodyPr/>
          <a:lstStyle/>
          <a:p>
            <a:pPr marL="0" indent="0">
              <a:buNone/>
            </a:pPr>
            <a:r>
              <a:rPr sz="2400" b="1">
                <a:solidFill>
                  <a:srgbClr val="FF0053"/>
                </a:solidFill>
              </a:rPr>
              <a:t>Код</a:t>
            </a:r>
            <a:endParaRPr lang="ru-RU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Грейд ±1 ступень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Точно из 5 классов 57,0%, κ 0,81. Фиксированная форма из 12 заданий: 52,4%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Завышение при сливе всех ключей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У фиксированного теста +2,68. Каждый кандидат получает свой экземпляр задания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κ повторного теста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Вторая попытка с другими заданиями. Ложные отказы 22,8%, ложные подтверждения 23,8%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rPr>
                <a:solidFill>
                  <a:srgbClr val="520977"/>
                </a:solidFill>
              </a:rPr>
              <a:t>Валидация теста на 2000 кандидатах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2743200" cy="601141"/>
          </a:xfrm>
        </p:spPr>
        <p:txBody>
          <a:bodyPr/>
          <a:lstStyle/>
          <a:p>
            <a:pPr marL="0" indent="0">
              <a:buNone/>
            </a:pPr>
            <a:r>
              <a:rPr sz="3200" b="1">
                <a:solidFill>
                  <a:srgbClr val="FF0053"/>
                </a:solidFill>
              </a:rPr>
              <a:t>98,2%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2743200" cy="572942"/>
          </a:xfrm>
        </p:spPr>
        <p:txBody>
          <a:bodyPr/>
          <a:lstStyle/>
          <a:p>
            <a:pPr marL="0" indent="0">
              <a:buNone/>
            </a:pPr>
            <a:r>
              <a:rPr sz="3200" b="1">
                <a:solidFill>
                  <a:srgbClr val="FF0053"/>
                </a:solidFill>
              </a:rPr>
              <a:t>+0,62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2743200" cy="573165"/>
          </a:xfrm>
        </p:spPr>
        <p:txBody>
          <a:bodyPr/>
          <a:lstStyle/>
          <a:p>
            <a:pPr marL="0" indent="0">
              <a:buNone/>
            </a:pPr>
            <a:r>
              <a:rPr sz="3200" b="1">
                <a:solidFill>
                  <a:srgbClr val="FF0053"/>
                </a:solidFill>
              </a:rPr>
              <a:t>0,71</a:t>
            </a:r>
            <a:endParaRPr lang="ru-RU" sz="44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84048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Подтверждённая категория и перцентиль: главный сигнал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Навыки, подтверждённые тестом, весят больше заявленных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Ожидания в вилке, отрасль и формат работы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Регулярные задания и достижения ФСП: бонус внутри категории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Грейд ниже запроса виден с пометкой и штрафом, а не скрыт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Подбор с объяснением</a:t>
            </a:r>
            <a:endParaRPr lang="ru-RU" dirty="0"/>
          </a:p>
        </p:txBody>
      </p:sp>
      <p:pic>
        <p:nvPicPr>
          <p:cNvPr id="25" name="Picture 24" descr="search-league-table-cr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685" y="1503583"/>
            <a:ext cx="5042343" cy="4560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37413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FF0053"/>
                </a:solidFill>
              </a:rPr>
              <a:t>+87% к BM25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nDCG@10 0,579 против 0,309 на отложенных 210 потребностях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FF0053"/>
                </a:solidFill>
              </a:rPr>
              <a:t>P@10 0,669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Две трети первой десятки релевантны, у BM25 0,361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FF0053"/>
                </a:solidFill>
              </a:rPr>
              <a:t>+0,141 от теста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Без результатов теста та же формула теряет четверть качества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FF0053"/>
                </a:solidFill>
              </a:rPr>
              <a:t>Веса подобраны на dev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Проверены на выборке, которая в подборе не участвовала. Всё воспроизводит npm run eval</a:t>
            </a:r>
            <a:endParaRPr lang="ru-RU">
              <a:solidFill>
                <a:schemeClr val="accent5"/>
              </a:solidFill>
            </a:endParaRP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Валидация подбора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84048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b="1">
                <a:solidFill>
                  <a:srgbClr val="520977"/>
                </a:solidFill>
              </a:rPr>
              <a:t>Интерфейс</a:t>
            </a:r>
            <a:endParaRPr lang="ru-RU" dirty="0">
              <a:solidFill>
                <a:schemeClr val="tx1"/>
              </a:solidFill>
            </a:endParaRPr>
          </a:p>
          <a:p>
            <a:r>
              <a:rPr b="0">
                <a:solidFill>
                  <a:srgbClr val="1C1D22"/>
                </a:solidFill>
              </a:rPr>
              <a:t>React, Vite, TypeScript</a:t>
            </a:r>
          </a:p>
          <a:p>
            <a:r>
              <a:rPr b="0">
                <a:solidFill>
                  <a:srgbClr val="1C1D22"/>
                </a:solidFill>
              </a:rPr>
              <a:t>nginx или Caddy с HTTPS</a:t>
            </a:r>
          </a:p>
          <a:p>
            <a:r>
              <a:rPr b="0">
                <a:solidFill>
                  <a:srgbClr val="1C1D22"/>
                </a:solidFill>
              </a:rPr>
              <a:t>Контракт OpenAPI, клиент генерируется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b="1">
                <a:solidFill>
                  <a:srgbClr val="520977"/>
                </a:solidFill>
              </a:rPr>
              <a:t>Сервер</a:t>
            </a:r>
            <a:endParaRPr lang="ru-RU" dirty="0">
              <a:solidFill>
                <a:schemeClr val="tx1"/>
              </a:solidFill>
            </a:endParaRPr>
          </a:p>
          <a:p>
            <a:r>
              <a:rPr b="0">
                <a:solidFill>
                  <a:srgbClr val="1C1D22"/>
                </a:solidFill>
              </a:rPr>
              <a:t>NestJS, Prisma, PostgreSQL</a:t>
            </a:r>
          </a:p>
          <a:p>
            <a:r>
              <a:rPr b="0">
                <a:solidFill>
                  <a:srgbClr val="1C1D22"/>
                </a:solidFill>
              </a:rPr>
              <a:t>Keycloak: OIDC с PKCE</a:t>
            </a:r>
          </a:p>
          <a:p>
            <a:r>
              <a:rPr b="0">
                <a:solidFill>
                  <a:srgbClr val="1C1D22"/>
                </a:solidFill>
              </a:rPr>
              <a:t>Redis и BullMQ, Piston для кода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b="1">
                <a:solidFill>
                  <a:srgbClr val="520977"/>
                </a:solidFill>
              </a:rPr>
              <a:t>Запуск и качество</a:t>
            </a:r>
            <a:endParaRPr lang="ru-RU">
              <a:solidFill>
                <a:schemeClr val="tx1"/>
              </a:solidFill>
            </a:endParaRPr>
          </a:p>
          <a:p>
            <a:r>
              <a:rPr b="0">
                <a:solidFill>
                  <a:srgbClr val="1C1D22"/>
                </a:solidFill>
              </a:rPr>
              <a:t>docker compose up одной командой</a:t>
            </a:r>
          </a:p>
          <a:p>
            <a:r>
              <a:rPr b="0">
                <a:solidFill>
                  <a:srgbClr val="1C1D22"/>
                </a:solidFill>
              </a:rPr>
              <a:t>420 демо-кандидатов, учётки жюри</a:t>
            </a:r>
          </a:p>
          <a:p>
            <a:r>
              <a:rPr b="0">
                <a:solidFill>
                  <a:srgbClr val="1C1D22"/>
                </a:solidFill>
              </a:rPr>
              <a:t>CI: 130 тестов бэкенда, Playwright, eval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Архитектура и запуск</a:t>
            </a:r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21868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Вход через ФСП ID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Согласия и опрос, достижения ФСП подтягиваются в профиль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Категория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«Специализация · грейд» с перцентилем внутри категории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Приглашение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Вилка обязательна, контакты после согласия кандидата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Адаптивный тест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14 заданий с практикой или экспресс из 6 заданий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Подборка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Работодатель описывает потребность и видит объяснение балла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Как это работает</a:t>
            </a:r>
            <a:endParaRPr lang="ru-RU" dirty="0"/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scout · кандидат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scout · работодатель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Кандидат: подтверждённая категория, перцентиль, навыки и правила пересдачи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Работодатель: банк кандидатов с подтверждёнными навыками и ожиданиями по зарплате</a:t>
            </a:r>
            <a:endParaRPr lang="ru-RU">
              <a:solidFill>
                <a:schemeClr val="tx1"/>
              </a:solidFill>
            </a:endParaRPr>
          </a:p>
        </p:txBody>
      </p:sp>
      <p:pic>
        <p:nvPicPr>
          <p:cNvPr id="5" name="Рисунок 4" descr="result-scoreboard.jp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190" b="190"/>
          <a:stretch>
            <a:fillRect/>
          </a:stretch>
        </p:blipFill>
        <p:spPr>
          <a:xfrm>
            <a:off x="1210642" y="1577998"/>
            <a:ext cx="4121688" cy="2283975"/>
          </a:xfrm>
        </p:spPr>
      </p:pic>
      <p:pic>
        <p:nvPicPr>
          <p:cNvPr id="6" name="Рисунок 5" descr="bank-player-cards.jp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190" b="190"/>
          <a:stretch>
            <a:fillRect/>
          </a:stretch>
        </p:blipFill>
        <p:spPr>
          <a:xfrm>
            <a:off x="6855540" y="1577998"/>
            <a:ext cx="4121688" cy="2283975"/>
          </a:xfrm>
        </p:spPr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Интерфейс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832352E2-54BA-705C-C9BB-328B5BDEF2D2}"/>
              </a:ext>
            </a:extLst>
          </p:cNvPr>
          <p:cNvSpPr/>
          <p:nvPr/>
        </p:nvSpPr>
        <p:spPr>
          <a:xfrm>
            <a:off x="346075" y="324562"/>
            <a:ext cx="321868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2" name="Рисунок 1" descr="mobile-search.jp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t="1073" b="1073"/>
          <a:stretch>
            <a:fillRect/>
          </a:stretch>
        </p:blipFill>
        <p:spPr>
          <a:xfrm>
            <a:off x="5009872" y="1235915"/>
            <a:ext cx="2172255" cy="4602697"/>
          </a:xfrm>
        </p:spPr>
      </p:pic>
      <p:sp>
        <p:nvSpPr>
          <p:cNvPr id="4" name="Текст 3">
            <a:extLst>
              <a:ext uri="{FF2B5EF4-FFF2-40B4-BE49-F238E27FC236}">
                <a16:creationId xmlns:a16="http://schemas.microsoft.com/office/drawing/2014/main" id="{ED043264-47A7-41A8-BD39-44764904AB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375 px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5760666-5FA0-4D8C-AB12-AC2144A4667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30 экранов без горизонтальной прокрутки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7A4149DD-AEA5-4B34-B1C7-7F98E296C6A8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Работодатель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0E3C014-67F9-4CD2-9DAD-DD9229F6DBC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Подборка, карточка кандидата и приглашение с телефона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0C941A72-EFAF-44F7-BEB7-6AB833109CE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Кандидат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0455AC49-3B10-4E7B-8E60-B114266B10E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Тест, инвайты и профиль в мобильном браузере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BBBC9E7C-9583-4A41-9E75-CEE9530DD864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Две темы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BA3A59F4-773A-4619-B45C-1B0EA46D9BB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Светлая и тёмная тема во всех кабинетах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Номер слайда 11">
            <a:extLst>
              <a:ext uri="{FF2B5EF4-FFF2-40B4-BE49-F238E27FC236}">
                <a16:creationId xmlns:a16="http://schemas.microsoft.com/office/drawing/2014/main" id="{3FE28FC6-A9E9-4F9B-8446-38D1CD450EF8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28</a:t>
            </a:fld>
            <a:endParaRPr lang="ru-RU" dirty="0">
              <a:solidFill>
                <a:schemeClr val="accent5"/>
              </a:solidFill>
            </a:endParaRPr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6A4EDC46-4F2C-4275-9CDC-2BD481E430A8}"/>
              </a:ext>
            </a:extLst>
          </p:cNvPr>
          <p:cNvGrpSpPr/>
          <p:nvPr/>
        </p:nvGrpSpPr>
        <p:grpSpPr>
          <a:xfrm>
            <a:off x="4951937" y="1208819"/>
            <a:ext cx="2268386" cy="4662886"/>
            <a:chOff x="5193506" y="1574276"/>
            <a:chExt cx="1802607" cy="3705431"/>
          </a:xfrm>
        </p:grpSpPr>
        <p:sp>
          <p:nvSpPr>
            <p:cNvPr id="14" name="Полилиния: фигура 13">
              <a:extLst>
                <a:ext uri="{FF2B5EF4-FFF2-40B4-BE49-F238E27FC236}">
                  <a16:creationId xmlns:a16="http://schemas.microsoft.com/office/drawing/2014/main" id="{CADC314F-9F19-4FEA-97AD-07F26F51B620}"/>
                </a:ext>
              </a:extLst>
            </p:cNvPr>
            <p:cNvSpPr/>
            <p:nvPr/>
          </p:nvSpPr>
          <p:spPr>
            <a:xfrm>
              <a:off x="5210727" y="157427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accent5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5" name="Полилиния: фигура 14">
              <a:extLst>
                <a:ext uri="{FF2B5EF4-FFF2-40B4-BE49-F238E27FC236}">
                  <a16:creationId xmlns:a16="http://schemas.microsoft.com/office/drawing/2014/main" id="{376E7FEE-0EB1-4746-9DDD-1684A7001A8E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6" name="Полилиния: фигура 15">
              <a:extLst>
                <a:ext uri="{FF2B5EF4-FFF2-40B4-BE49-F238E27FC236}">
                  <a16:creationId xmlns:a16="http://schemas.microsoft.com/office/drawing/2014/main" id="{A8C3F5C7-7636-41A4-BA80-3491804B8786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" name="Полилиния: фигура 16">
              <a:extLst>
                <a:ext uri="{FF2B5EF4-FFF2-40B4-BE49-F238E27FC236}">
                  <a16:creationId xmlns:a16="http://schemas.microsoft.com/office/drawing/2014/main" id="{811CD315-417D-43F3-86F1-90773170876F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" name="Полилиния: фигура 17">
              <a:extLst>
                <a:ext uri="{FF2B5EF4-FFF2-40B4-BE49-F238E27FC236}">
                  <a16:creationId xmlns:a16="http://schemas.microsoft.com/office/drawing/2014/main" id="{2BB8CDF7-2F1E-4B42-A7CD-D11EC8EDA406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9" name="Полилиния: фигура 18">
              <a:extLst>
                <a:ext uri="{FF2B5EF4-FFF2-40B4-BE49-F238E27FC236}">
                  <a16:creationId xmlns:a16="http://schemas.microsoft.com/office/drawing/2014/main" id="{68B6A556-7D40-478D-84FB-4EF0FC7DA59F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" name="Полилиния: фигура 19">
              <a:extLst>
                <a:ext uri="{FF2B5EF4-FFF2-40B4-BE49-F238E27FC236}">
                  <a16:creationId xmlns:a16="http://schemas.microsoft.com/office/drawing/2014/main" id="{12827976-DC27-4EAF-8E52-EBEFEC7E0761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" name="Полилиния: фигура 20">
              <a:extLst>
                <a:ext uri="{FF2B5EF4-FFF2-40B4-BE49-F238E27FC236}">
                  <a16:creationId xmlns:a16="http://schemas.microsoft.com/office/drawing/2014/main" id="{6530F195-F566-483B-94CE-768CC428E39B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" name="Полилиния: фигура 21">
              <a:extLst>
                <a:ext uri="{FF2B5EF4-FFF2-40B4-BE49-F238E27FC236}">
                  <a16:creationId xmlns:a16="http://schemas.microsoft.com/office/drawing/2014/main" id="{18CA254A-9E3B-4352-82B2-BA84B9F413EC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3" name="Полилиния: фигура 22">
              <a:extLst>
                <a:ext uri="{FF2B5EF4-FFF2-40B4-BE49-F238E27FC236}">
                  <a16:creationId xmlns:a16="http://schemas.microsoft.com/office/drawing/2014/main" id="{04273616-0536-4E9E-A4BE-5D7114D4C4E6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24" name="Полилиния: фигура 23">
              <a:extLst>
                <a:ext uri="{FF2B5EF4-FFF2-40B4-BE49-F238E27FC236}">
                  <a16:creationId xmlns:a16="http://schemas.microsoft.com/office/drawing/2014/main" id="{81AF835D-BC32-4CF6-9D53-BC9BE3935788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5" name="Полилиния: фигура 24">
              <a:extLst>
                <a:ext uri="{FF2B5EF4-FFF2-40B4-BE49-F238E27FC236}">
                  <a16:creationId xmlns:a16="http://schemas.microsoft.com/office/drawing/2014/main" id="{668C5EB7-3AC0-4913-B7E5-76B46FFF714C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6" name="Полилиния: фигура 25">
              <a:extLst>
                <a:ext uri="{FF2B5EF4-FFF2-40B4-BE49-F238E27FC236}">
                  <a16:creationId xmlns:a16="http://schemas.microsoft.com/office/drawing/2014/main" id="{18FAB6AC-0AD1-4123-96B1-6FDD727A66D6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7" name="Полилиния: фигура 26">
              <a:extLst>
                <a:ext uri="{FF2B5EF4-FFF2-40B4-BE49-F238E27FC236}">
                  <a16:creationId xmlns:a16="http://schemas.microsoft.com/office/drawing/2014/main" id="{E0079DE2-1327-4F2F-A9D1-235DB5B2BB66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8" name="Полилиния: фигура 27">
              <a:extLst>
                <a:ext uri="{FF2B5EF4-FFF2-40B4-BE49-F238E27FC236}">
                  <a16:creationId xmlns:a16="http://schemas.microsoft.com/office/drawing/2014/main" id="{8563A0D3-DD5F-48FE-8A05-4C2D704CE07C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9" name="Полилиния: фигура 28">
              <a:extLst>
                <a:ext uri="{FF2B5EF4-FFF2-40B4-BE49-F238E27FC236}">
                  <a16:creationId xmlns:a16="http://schemas.microsoft.com/office/drawing/2014/main" id="{8452619C-3E15-4DC5-AB4B-6C88B9322F63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0" name="Полилиния: фигура 29">
              <a:extLst>
                <a:ext uri="{FF2B5EF4-FFF2-40B4-BE49-F238E27FC236}">
                  <a16:creationId xmlns:a16="http://schemas.microsoft.com/office/drawing/2014/main" id="{824479CF-8277-41BF-A7D4-9E38E5D3A492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1" name="Полилиния: фигура 30">
              <a:extLst>
                <a:ext uri="{FF2B5EF4-FFF2-40B4-BE49-F238E27FC236}">
                  <a16:creationId xmlns:a16="http://schemas.microsoft.com/office/drawing/2014/main" id="{0B62DAC2-F1F4-4ECF-851D-BEC23148FE5D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2" name="Полилиния: фигура 31">
              <a:extLst>
                <a:ext uri="{FF2B5EF4-FFF2-40B4-BE49-F238E27FC236}">
                  <a16:creationId xmlns:a16="http://schemas.microsoft.com/office/drawing/2014/main" id="{45311E48-AC2A-4A80-A65A-D356CC01C1AC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33" name="Рисунок 32">
              <a:extLst>
                <a:ext uri="{FF2B5EF4-FFF2-40B4-BE49-F238E27FC236}">
                  <a16:creationId xmlns:a16="http://schemas.microsoft.com/office/drawing/2014/main" id="{104AE29B-276D-4F69-9E54-6CBD0BE758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34" name="Полилиния: фигура 33">
              <a:extLst>
                <a:ext uri="{FF2B5EF4-FFF2-40B4-BE49-F238E27FC236}">
                  <a16:creationId xmlns:a16="http://schemas.microsoft.com/office/drawing/2014/main" id="{4FAE68B0-E6D3-4A99-8C27-FF0701E8FAD5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5" name="Полилиния: фигура 34">
              <a:extLst>
                <a:ext uri="{FF2B5EF4-FFF2-40B4-BE49-F238E27FC236}">
                  <a16:creationId xmlns:a16="http://schemas.microsoft.com/office/drawing/2014/main" id="{81A0CB6C-0D74-4877-B97D-73B7D6B320F5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6" name="Полилиния: фигура 35">
              <a:extLst>
                <a:ext uri="{FF2B5EF4-FFF2-40B4-BE49-F238E27FC236}">
                  <a16:creationId xmlns:a16="http://schemas.microsoft.com/office/drawing/2014/main" id="{7237E626-D311-4B83-8DBA-12DC3F813C32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7" name="Полилиния: фигура 36">
              <a:extLst>
                <a:ext uri="{FF2B5EF4-FFF2-40B4-BE49-F238E27FC236}">
                  <a16:creationId xmlns:a16="http://schemas.microsoft.com/office/drawing/2014/main" id="{F61B8E82-D4DC-41E9-B74B-4125D6F227F0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39" name="Заголовок 13">
            <a:extLst>
              <a:ext uri="{FF2B5EF4-FFF2-40B4-BE49-F238E27FC236}">
                <a16:creationId xmlns:a16="http://schemas.microsoft.com/office/drawing/2014/main" id="{8E1F3D1B-B48D-3959-B6E3-253BFA6E3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Мобильная версия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40647633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11028</TotalTime>
  <Words>632</Words>
  <Application>Microsoft Macintosh PowerPoint</Application>
  <PresentationFormat>Широкоэкранный</PresentationFormat>
  <Paragraphs>187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Ирина</cp:lastModifiedBy>
  <cp:revision>97</cp:revision>
  <dcterms:created xsi:type="dcterms:W3CDTF">2023-05-15T07:36:23Z</dcterms:created>
  <dcterms:modified xsi:type="dcterms:W3CDTF">2026-10-02T08:27:06Z</dcterms:modified>
</cp:coreProperties>
</file>