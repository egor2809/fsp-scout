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7" r:id="rId26"/>
    <p:sldId id="270" r:id="rId28"/>
    <p:sldId id="371" r:id="rId17"/>
    <p:sldId id="262" r:id="rId21"/>
    <p:sldId id="374" r:id="rId18"/>
    <p:sldId id="266" r:id="rId23"/>
    <p:sldId id="271" r:id="rId29"/>
    <p:sldId id="268" r:id="rId25"/>
    <p:sldId id="370" r:id="rId16"/>
    <p:sldId id="373" r:id="rId1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C1D22"/>
                        </a:solidFill>
                      </a:rPr>
                      <a:t>0,309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C1D22"/>
                        </a:solidFill>
                      </a:rPr>
                      <a:t>0,417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C1D22"/>
                        </a:solidFill>
                      </a:rPr>
                      <a:t>0,438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C1D22"/>
                        </a:solidFill>
                      </a:rPr>
                      <a:t>0,579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BM25 по резюме</c:v>
                </c:pt>
                <c:pt idx="1">
                  <c:v>BM25 + фильтры</c:v>
                </c:pt>
                <c:pt idx="2">
                  <c:v>Скаут без теста</c:v>
                </c:pt>
                <c:pt idx="3">
                  <c:v>Скаут</c:v>
                </c:pt>
              </c:strCache>
            </c:strRef>
          </c:cat>
          <c:val>
            <c:numRef>
              <c:f>Sheet1!$B$2:$B$5</c:f>
              <c:numCache>
                <c:formatCode>0.000</c:formatCode>
                <c:ptCount val="4"/>
                <c:pt idx="0">
                  <c:v>0.3093</c:v>
                </c:pt>
                <c:pt idx="1">
                  <c:v>0.4175</c:v>
                </c:pt>
                <c:pt idx="2">
                  <c:v>0.438</c:v>
                </c:pt>
                <c:pt idx="3">
                  <c:v>0.5792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0.7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0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80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07.jpg"/><Relationship Id="rId4" Type="http://schemas.openxmlformats.org/officeDocument/2006/relationships/image" Target="../media/image80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810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СКАУТ: найм по подтверждённым навыкам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br>
              <a:rPr lang="ru-RU" dirty="0"/>
            </a:br>
            <a:br>
              <a:rPr lang="ru-RU" dirty="0"/>
            </a:br>
            <a:r>
              <a:rPr lang="ru-RU" dirty="0"/>
              <a:t>Цифровая платформа-агрегатор ИТ-вакансий с верифицированным профилем достижений участника ФСП · команда [Название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result-scoreboard-crop.jp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507" b="50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Грейд ставит только тест, а не резюме. Задания генерируются из параметрических семейств: слитые ответы почти не помогают.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__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Скаут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Кандидат подтверждает навыки адаптивным тестом и получает категорию «специализация · грейд». Работодатель ищет по подтверждённым категориям и сам приглашает с вилкой.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 и решении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Расскажите, как вы собрались, участвовали ли вместе в прошлых хакатонах или проектах, интересные факты о команде.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Устойчивый банк при потолке экспозиции: решили параметрическими семействами. Валидация нашла обрыв 48% сессий на редких компетенциях: исправили. Задания с выбором угадывались по дампу банка: добавили пулы формулировок с разными ответами и учёт угадывания (3PL).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Что вас вдохновило или заинтересовало в этой проблеме?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Адаптивный тест на IRT 3PL: грейд ставит тест, а не резюме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244 параметрических семейства: у каждого кандидата свой экземпляр задания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Практика с кодом в песочнице Piston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по подтверждённым категориям с разложением балла на факторы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Вход через ФСП ID (Keycloak), достижения поднимают внутри категории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>Работодатель сравнивает кандидатов по одной шкале, а не по самоописанию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Кандидат один раз подтверждает навыки и получает приглашения с вилкой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Контакты открываются только после согласия кандидата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Участники ФСП получают канал трудоустройства, где видны их достижения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Ценность для ФСП и работодателей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Демонстрация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Репозиторий</a:t>
            </a:r>
            <a:endParaRPr lang="ru-RU" dirty="0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github.com/Egor2809/fsp-scout</a:t>
            </a:r>
          </a:p>
          <a:p>
            <a:r>
              <a:rPr b="1">
                <a:solidFill>
                  <a:srgbClr val="520977"/>
                </a:solidFill>
              </a:rPr>
              <a:t>Стенд и видео</a:t>
            </a:r>
          </a:p>
          <a:p>
            <a:r>
              <a:rPr b="0">
                <a:solidFill>
                  <a:srgbClr val="1C1D22"/>
                </a:solidFill>
              </a:rPr>
              <a:t>[ссылка на стенд] · [ссылка на видео]</a:t>
            </a:r>
          </a:p>
          <a:p>
            <a:r>
              <a:rPr b="1">
                <a:solidFill>
                  <a:srgbClr val="520977"/>
                </a:solidFill>
              </a:rPr>
              <a:t>Экспресс-тест</a:t>
            </a:r>
          </a:p>
          <a:p>
            <a:r>
              <a:rPr b="0">
                <a:solidFill>
                  <a:srgbClr val="1C1D22"/>
                </a:solidFill>
              </a:rPr>
              <a:t>Кнопка при старте теста: 6 заданий за 3–5 минут</a:t>
            </a:r>
          </a:p>
          <a:p>
            <a:r>
              <a:rPr b="1">
                <a:solidFill>
                  <a:srgbClr val="520977"/>
                </a:solidFill>
              </a:rPr>
              <a:t>Учётки жюри</a:t>
            </a:r>
          </a:p>
          <a:p>
            <a:r>
              <a:rPr b="0">
                <a:solidFill>
                  <a:srgbClr val="1C1D22"/>
                </a:solidFill>
              </a:rPr>
              <a:t>jury1…5-candidate@demo.ru и jury1…5-employer@demo.ru, пароль demo12345</a:t>
            </a:r>
          </a:p>
        </p:txBody>
      </p:sp>
      <p:pic>
        <p:nvPicPr>
          <p:cNvPr id="10" name="Picture 9" descr="mobile-candidate-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1586" y="1188720"/>
            <a:ext cx="2364827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Развитие продукта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Пилот на реальных кандидатах и калибровка параметров заданий по их ответам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LLM (GigaChat, резерв YandexGPT): черновики заданий с проверкой экспертом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Боевой реестр ФСП и ФСП ID вместо эмулятора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Новые специализации и практические кейсы в банке заданий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Выгрузка приглашённых кандидатов в ATS работодателя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Модель IRT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Следующее задание выбирается по текущей оценке умения, с учётом угадывания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Семейства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160 числовых, 70 с выбором ответа, 14 канареек. Ключи только на сервере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Потолок экспозиции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Семейство попадает не больше чем в 40% сессий, покрытие компетенций обязательно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Практика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Решение проверяется тестами в песочнице Piston. Провал практики не перекрыть баллом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Адаптивный тест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2194560" cy="423628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3PL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2194560" cy="403756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244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2194560" cy="403913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0,4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2194560" cy="423628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Код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Грейд ±1 ступень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Точно из 5 классов 57,0%, κ 0,81. Фиксированная форма из 12 заданий: 52,4%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Завышение при сливе всех ключей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У фиксированного теста +2,68. Каждый кандидат получает свой экземпляр задания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κ повторного теста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Вторая попытка с другими заданиями. Ложные отказы 22,8%, ложные подтверждения 23,8%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Валидация теста на 2000 кандидатах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2743200" cy="601141"/>
          </a:xfrm>
        </p:spPr>
        <p:txBody>
          <a:bodyPr/>
          <a:lstStyle/>
          <a:p>
            <a:pPr marL="0" indent="0">
              <a:buNone/>
            </a:pPr>
            <a:r>
              <a:rPr sz="3200" b="1">
                <a:solidFill>
                  <a:srgbClr val="FF0053"/>
                </a:solidFill>
              </a:rPr>
              <a:t>98,2%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2743200" cy="572942"/>
          </a:xfrm>
        </p:spPr>
        <p:txBody>
          <a:bodyPr/>
          <a:lstStyle/>
          <a:p>
            <a:pPr marL="0" indent="0">
              <a:buNone/>
            </a:pPr>
            <a:r>
              <a:rPr sz="3200" b="1">
                <a:solidFill>
                  <a:srgbClr val="FF0053"/>
                </a:solidFill>
              </a:rPr>
              <a:t>+0,62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2743200" cy="573165"/>
          </a:xfrm>
        </p:spPr>
        <p:txBody>
          <a:bodyPr/>
          <a:lstStyle/>
          <a:p>
            <a:pPr marL="0" indent="0">
              <a:buNone/>
            </a:pPr>
            <a:r>
              <a:rPr sz="3200" b="1">
                <a:solidFill>
                  <a:srgbClr val="FF0053"/>
                </a:solidFill>
              </a:rPr>
              <a:t>0,71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404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Подтверждённая категория и перцентиль: главный сигнал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Навыки, подтверждённые тестом, весят больше заявленных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Ожидания в вилке, отрасль и формат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Регулярные задания и достижения ФСП: бонус внутри категории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Грейд ниже запроса виден с пометкой и штрафом, а не скрыт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Подбор с объяснением</a:t>
            </a:r>
            <a:endParaRPr lang="ru-RU" dirty="0"/>
          </a:p>
        </p:txBody>
      </p:sp>
      <p:pic>
        <p:nvPicPr>
          <p:cNvPr id="25" name="Picture 24" descr="search-league-tabl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85" y="1503583"/>
            <a:ext cx="5042343" cy="45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37413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+87% к BM25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nDCG@10 0,579 против 0,309 на отложенных 210 потребностях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P@10 0,669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Две трети первой десятки релевантны, у BM25 0,361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+0,141 от теста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Без результатов теста та же формула теряет четверть качества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Веса подобраны на dev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Проверены на выборке, которая в подборе не участвовала. Всё воспроизводит npm run eval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Валидация подбора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84048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Интерфейс</a:t>
            </a:r>
            <a:endParaRPr lang="ru-RU" dirty="0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React, Vite, TypeScript</a:t>
            </a:r>
          </a:p>
          <a:p>
            <a:r>
              <a:rPr b="0">
                <a:solidFill>
                  <a:srgbClr val="1C1D22"/>
                </a:solidFill>
              </a:rPr>
              <a:t>nginx или Caddy с HTTPS</a:t>
            </a:r>
          </a:p>
          <a:p>
            <a:r>
              <a:rPr b="0">
                <a:solidFill>
                  <a:srgbClr val="1C1D22"/>
                </a:solidFill>
              </a:rPr>
              <a:t>Контракт OpenAPI, клиент генерируется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Сервер</a:t>
            </a:r>
            <a:endParaRPr lang="ru-RU" dirty="0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NestJS, Prisma, PostgreSQL</a:t>
            </a:r>
          </a:p>
          <a:p>
            <a:r>
              <a:rPr b="0">
                <a:solidFill>
                  <a:srgbClr val="1C1D22"/>
                </a:solidFill>
              </a:rPr>
              <a:t>Keycloak: OIDC с PKCE</a:t>
            </a:r>
          </a:p>
          <a:p>
            <a:r>
              <a:rPr b="0">
                <a:solidFill>
                  <a:srgbClr val="1C1D22"/>
                </a:solidFill>
              </a:rPr>
              <a:t>Redis и BullMQ, Piston для кода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Запуск и качество</a:t>
            </a:r>
            <a:endParaRPr lang="ru-RU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docker compose up одной командой</a:t>
            </a:r>
          </a:p>
          <a:p>
            <a:r>
              <a:rPr b="0">
                <a:solidFill>
                  <a:srgbClr val="1C1D22"/>
                </a:solidFill>
              </a:rPr>
              <a:t>420 демо-кандидатов, учётки жюри</a:t>
            </a:r>
          </a:p>
          <a:p>
            <a:r>
              <a:rPr b="0">
                <a:solidFill>
                  <a:srgbClr val="1C1D22"/>
                </a:solidFill>
              </a:rPr>
              <a:t>CI: 130 тестов бэкенда, Playwright, eval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Архитектура и запуск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21868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Вход через ФСП ID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Согласия и опрос, достижения ФСП подтягиваются в профиль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«Специализация · грейд» с перцентилем внутри категории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Вилка обязательна, контакты после согласия кандидата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Адаптивный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14 заданий с практикой или экспресс из 6 заданий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Работодатель описывает потребность и видит объяснение балла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Как это работает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scout · кандидат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scout · работодатель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Кандидат: подтверждённая категория, перцентиль, навыки и правила пересдачи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Работодатель: банк кандидатов с подтверждёнными навыками и ожиданиями по зарплате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5" name="Рисунок 4" descr="result-scoreboard.jp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90" b="190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bank-player-cards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190" b="190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Интерфейс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321868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mobile-search.jp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073" b="1073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375 px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30 экранов без горизонтальной прокрутки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Работодатель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Подборка, карточка кандидата и приглашение с телефона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Кандидат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Тест, инвайты и профиль в мобильном браузере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Две темы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Светлая и тёмная тема во всех кабинетах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28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Мобильная версия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